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2926080" cy="4800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1B9"/>
                </a:solidFill>
              </a:rPr>
              <a:t>Slide 1 of 3  |  Data &amp; Use Cases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4592" y="228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Crime Data Analysis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" y="868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E0"/>
                </a:solidFill>
              </a:rPr>
              <a:t>Understanding Patterns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8C4E0"/>
                </a:solidFill>
              </a:rPr>
              <a:t>for Public Safety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" y="1572768"/>
            <a:ext cx="2377440" cy="274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4B942"/>
                </a:solidFill>
              </a:rPr>
              <a:t>PROBLEM CONTEXT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4592" y="1965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0"/>
                </a:solidFill>
              </a:rPr>
              <a:t>Crime patterns in Los Angeles significantly impact public safety, resource allocation, and community well-being. This analysis examines 62,105 crime records from 2024 to identify actionable patterns.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3154680"/>
            <a:ext cx="2560320" cy="822960"/>
          </a:xfrm>
          <a:prstGeom prst="rect">
            <a:avLst/>
          </a:prstGeom>
          <a:solidFill>
            <a:srgbClr val="243558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4855"/>
                </a:solidFill>
              </a:rPr>
              <a:t>62,105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C4E0"/>
                </a:solidFill>
              </a:rPr>
              <a:t>crime records · Jan 2024–Jan 2025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82880"/>
            <a:ext cx="45720" cy="9144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4855"/>
                </a:solidFill>
              </a:rPr>
              <a:t>PRIMARY DATASET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0" y="38404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LA Crime Data 2024–Present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64008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</a:rPr>
              <a:t>LAPD / data.lacity.org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63240" y="914400"/>
          <a:ext cx="5943600" cy="59436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640080"/>
                <a:gridCol w="21031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Dataset 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</a:rPr>
                        <a:t>LA Crime Data 2024–Present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A"/>
                          </a:solidFill>
                        </a:rPr>
                        <a:t>LAPD / data.lacity.org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84855"/>
                          </a:solidFill>
                        </a:rPr>
                        <a:t>62,105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</a:rPr>
                        <a:t>DATE OCC, TIME OCC, AREA NAME, Crm Cd Desc, Vict Age, Vict Sex, LAT, LON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06324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4855"/>
                </a:solidFill>
              </a:rPr>
              <a:t>WHY THIS DATA MATTERS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063240" y="19202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A4A"/>
                </a:solidFill>
              </a:rPr>
              <a:t>Comprehensive geocoded records with victim demographics and temporal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A4A"/>
                </a:solidFill>
              </a:rPr>
              <a:t>Enables crime hotspot &amp; temporal pattern analysis to inform policing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4A5568"/>
                </a:solidFill>
              </a:rPr>
              <a:t>Limitation: 48.5% of victim demographic data is unknown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89320" y="16642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4855"/>
                </a:solidFill>
              </a:rPr>
              <a:t>USE CASES (4 REQUIRED)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989320" y="1920240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89320" y="1920240"/>
            <a:ext cx="54864" cy="5669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60" y="1956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1. LAPD Resource Allocation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80760" y="21854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Optimize patrol schedules by peak crime hours &amp; areas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989320" y="2606040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89320" y="2606040"/>
            <a:ext cx="54864" cy="5669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80760" y="26426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2. City Planning Dept.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080760" y="28712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Identify high-crime zones for community programs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989320" y="3291840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89320" y="3291840"/>
            <a:ext cx="54864" cy="5669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80760" y="33284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3. Insurance Companies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080760" y="35570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Assess risk profiles by area &amp; crime type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989320" y="3977640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989320" y="3977640"/>
            <a:ext cx="54864" cy="5669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80760" y="40142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4. Residents &amp; Communities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080760" y="4242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Make informed decisions on safety measures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Initial Exploration: What We Found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0"/>
                </a:solidFill>
              </a:rPr>
              <a:t>Slide 2 of 3  |  Initial Exploration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27432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DATASET OVERVIEW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</a:rPr>
              <a:t>Rows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7160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62,105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682496"/>
            <a:ext cx="2468880" cy="0"/>
          </a:xfrm>
          <a:prstGeom prst="line">
            <a:avLst/>
          </a:prstGeom>
          <a:noFill/>
          <a:ln w="6350">
            <a:solidFill>
              <a:srgbClr val="E2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73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</a:rPr>
              <a:t>Columns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71600" y="1773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28 original + 9 derived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084832"/>
            <a:ext cx="2468880" cy="0"/>
          </a:xfrm>
          <a:prstGeom prst="line">
            <a:avLst/>
          </a:prstGeom>
          <a:noFill/>
          <a:ln w="6350">
            <a:solidFill>
              <a:srgbClr val="E2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76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</a:rPr>
              <a:t>Date Range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0" y="2176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Jan 2024 – Jan 2025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2468880" cy="0"/>
          </a:xfrm>
          <a:prstGeom prst="line">
            <a:avLst/>
          </a:prstGeom>
          <a:noFill/>
          <a:ln w="6350">
            <a:solidFill>
              <a:srgbClr val="E2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78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</a:rPr>
              <a:t>Key 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7160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DR_NO (unique report #)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96012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960120"/>
            <a:ext cx="27432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DATA QUALITY ISSUES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Weapon Used Cd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1408176"/>
            <a:ext cx="89611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9903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</a:rPr>
              <a:t>94.1% missing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91840" y="1682496"/>
            <a:ext cx="2468880" cy="0"/>
          </a:xfrm>
          <a:prstGeom prst="line">
            <a:avLst/>
          </a:prstGeom>
          <a:noFill/>
          <a:ln w="6350">
            <a:solidFill>
              <a:srgbClr val="E2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773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Vict Sex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1810512"/>
            <a:ext cx="89611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8013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</a:rPr>
              <a:t>30.1% missing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91840" y="2084832"/>
            <a:ext cx="2468880" cy="0"/>
          </a:xfrm>
          <a:prstGeom prst="line">
            <a:avLst/>
          </a:prstGeom>
          <a:noFill/>
          <a:ln w="6350">
            <a:solidFill>
              <a:srgbClr val="E2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176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Vict Age (zeros)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2212848"/>
            <a:ext cx="89611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037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</a:rPr>
              <a:t>48.5% missing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91840" y="2487168"/>
            <a:ext cx="2468880" cy="0"/>
          </a:xfrm>
          <a:prstGeom prst="line">
            <a:avLst/>
          </a:prstGeom>
          <a:noFill/>
          <a:ln w="6350">
            <a:solidFill>
              <a:srgbClr val="E2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Duplicates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46320" y="2615184"/>
            <a:ext cx="896112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6060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</a:rPr>
              <a:t>None found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9184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568"/>
                </a:solidFill>
              </a:rPr>
              <a:t>Outliers: 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Ages &gt;100, reporting delays up to 264 days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26480" y="960120"/>
            <a:ext cx="28346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960120"/>
            <a:ext cx="28346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KEY OBSERVATIONS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63640" y="1371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55"/>
                </a:solidFill>
              </a:rPr>
              <a:t>46%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08660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Vehicle crimes dominate — property crime is the primary concern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1847088"/>
            <a:ext cx="2560320" cy="0"/>
          </a:xfrm>
          <a:prstGeom prst="line">
            <a:avLst/>
          </a:prstGeom>
          <a:noFill/>
          <a:ln w="6350">
            <a:solidFill>
              <a:srgbClr val="E2E8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55"/>
                </a:solidFill>
              </a:rPr>
              <a:t>5.9%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08660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Only 5.9% of crimes involve weapons; physical force is most common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2395728"/>
            <a:ext cx="2560320" cy="0"/>
          </a:xfrm>
          <a:prstGeom prst="line">
            <a:avLst/>
          </a:prstGeom>
          <a:noFill/>
          <a:ln w="6350">
            <a:solidFill>
              <a:srgbClr val="E2E8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468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55"/>
                </a:solidFill>
              </a:rPr>
              <a:t>6 PM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08660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Clear evening peak — crimes surge after work hours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2880" y="3291840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82880" y="3291840"/>
            <a:ext cx="54864" cy="16459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364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A5568"/>
                </a:solidFill>
              </a:rPr>
              <a:t>SAMPLE DATA PREVIEW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0040" y="367588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Key columns: DATE OCC (crime date) · AREA NAME (LAPD patrol area) · Crm Cd Desc (crime type) · Vict Age/Sex/Descent (demographics) · Premis Desc (location type) · LAT / LON (coordinates)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4590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DA1B9"/>
                </a:solidFill>
              </a:rPr>
              <a:t>Optional: paste a df.head() screenshot above for visual context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97880" y="3291840"/>
            <a:ext cx="3063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897880" y="3291840"/>
            <a:ext cx="54864" cy="16459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35040" y="3364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4A5568"/>
                </a:solidFill>
              </a:rPr>
              <a:t>QUESTIONS THAT EMERGED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35040" y="370332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A4A"/>
                </a:solidFill>
              </a:rPr>
              <a:t>Why is 48.5% of victim data unknown?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A4A"/>
                </a:solidFill>
              </a:rPr>
              <a:t>What drives Central LA's high crime rate?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B2A4A"/>
                </a:solidFill>
              </a:rPr>
              <a:t>How do seasonal patterns affect crime types?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0"/>
            <a:ext cx="333756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Plan: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</a:rPr>
              <a:t>Cleaning, EDA &amp; Enrichment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1B9"/>
                </a:solidFill>
              </a:rPr>
              <a:t>Slide 3 of 3  |  The Plan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4B942"/>
                </a:solidFill>
              </a:rPr>
              <a:t>DATA CLEANING PLAN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Missing Values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581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0"/>
                </a:solidFill>
              </a:rPr>
              <a:t>Replace age=0 with NaN; fill sex/descent with 'Unknown'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Format Issues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0"/>
                </a:solidFill>
              </a:rPr>
              <a:t>Convert dates to datetime; extract hour from TIME OCC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Crime Categories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0"/>
                </a:solidFill>
              </a:rPr>
              <a:t>Group 140+ crime types into 12 meaningful categories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Outliers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0"/>
                </a:solidFill>
              </a:rPr>
              <a:t>Flag coordinate outliers; cap extreme reporting delays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3749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 Engineering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3959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0"/>
                </a:solidFill>
              </a:rPr>
              <a:t>Create age groups, reporting delay, premise categories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46120" y="1051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4B942"/>
                </a:solidFill>
              </a:rPr>
              <a:t>EDA QUESTIONS TO INVESTIGATE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1371600"/>
            <a:ext cx="2423160" cy="457200"/>
          </a:xfrm>
          <a:prstGeom prst="rect">
            <a:avLst/>
          </a:prstGeom>
          <a:solidFill>
            <a:srgbClr val="15203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1371600"/>
            <a:ext cx="45720" cy="457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39903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B942"/>
                </a:solidFill>
              </a:rPr>
              <a:t>DISTRIBUTION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37560" y="157276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0"/>
                </a:solidFill>
              </a:rPr>
              <a:t>How do crime types vary across different times of day?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1938528"/>
            <a:ext cx="2423160" cy="457200"/>
          </a:xfrm>
          <a:prstGeom prst="rect">
            <a:avLst/>
          </a:prstGeom>
          <a:solidFill>
            <a:srgbClr val="15203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1938528"/>
            <a:ext cx="45720" cy="457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196596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B942"/>
                </a:solidFill>
              </a:rPr>
              <a:t>RELATIONSHIP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37560" y="21396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0"/>
                </a:solidFill>
              </a:rPr>
              <a:t>Is there a correlation between victim age and crime type?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46120" y="2505456"/>
            <a:ext cx="2423160" cy="457200"/>
          </a:xfrm>
          <a:prstGeom prst="rect">
            <a:avLst/>
          </a:prstGeom>
          <a:solidFill>
            <a:srgbClr val="15203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2505456"/>
            <a:ext cx="45720" cy="457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25328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B942"/>
                </a:solidFill>
              </a:rPr>
              <a:t>COMPARISON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37560" y="27066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0"/>
                </a:solidFill>
              </a:rPr>
              <a:t>How do patterns differ between high- and low-crime areas?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46120" y="3072384"/>
            <a:ext cx="2423160" cy="457200"/>
          </a:xfrm>
          <a:prstGeom prst="rect">
            <a:avLst/>
          </a:prstGeom>
          <a:solidFill>
            <a:srgbClr val="15203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6120" y="3072384"/>
            <a:ext cx="45720" cy="457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09981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B942"/>
                </a:solidFill>
              </a:rPr>
              <a:t>TRENDS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337560" y="32735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0"/>
                </a:solidFill>
              </a:rPr>
              <a:t>Are there monthly trends in specific crime categories?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46120" y="3639312"/>
            <a:ext cx="2423160" cy="457200"/>
          </a:xfrm>
          <a:prstGeom prst="rect">
            <a:avLst/>
          </a:prstGeom>
          <a:solidFill>
            <a:srgbClr val="15203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46120" y="3639312"/>
            <a:ext cx="45720" cy="4572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6667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4B942"/>
                </a:solidFill>
              </a:rPr>
              <a:t>HYPOTHESIS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337560" y="384048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0"/>
                </a:solidFill>
              </a:rPr>
              <a:t>Vehicle crimes more frequent in parking areas vs. streets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43600" y="274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4855"/>
                </a:solidFill>
              </a:rPr>
              <a:t>ADDITIONAL DATA TO ENRICH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943600" y="594360"/>
            <a:ext cx="2971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035040" y="64922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US Census Data (LA County)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35040" y="868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Why: Add demographic context (income, population density) to crime areas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035040" y="11704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Join on: Geographic coordinates / Area name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43600" y="1600200"/>
            <a:ext cx="2971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035040" y="16550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Weather Data (NOAA)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Why: Investigate weather impact on crime rates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35040" y="21762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Join on: Date of crime occurrence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806440" y="2651760"/>
            <a:ext cx="3337560" cy="45720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2788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4855"/>
                </a:solidFill>
              </a:rPr>
              <a:t>NEXT STEPS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943600" y="3145536"/>
            <a:ext cx="237744" cy="23774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0" y="31363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855"/>
                </a:solidFill>
              </a:rPr>
              <a:t>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6364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Complete data cleaning pipeline and verify reproducibility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43600" y="3712464"/>
            <a:ext cx="237744" cy="23774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0" y="37033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855"/>
                </a:solidFill>
              </a:rPr>
              <a:t>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63640" y="3675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Generate all EDA visualizations and statistical summaries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943600" y="4279392"/>
            <a:ext cx="237744" cy="23774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0" y="4270248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855"/>
                </a:solidFill>
              </a:rPr>
              <a:t>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6364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Document findings and prepare final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Crime Data Analysis</dc:title>
  <dc:subject>PptxGenJS Presentation</dc:subject>
  <dc:creator>Crime Data Analysis Team</dc:creator>
  <cp:lastModifiedBy>Crime Data Analysis Team</cp:lastModifiedBy>
  <cp:revision>1</cp:revision>
  <dcterms:created xsi:type="dcterms:W3CDTF">2026-02-19T05:03:28Z</dcterms:created>
  <dcterms:modified xsi:type="dcterms:W3CDTF">2026-02-19T05:03:28Z</dcterms:modified>
</cp:coreProperties>
</file>