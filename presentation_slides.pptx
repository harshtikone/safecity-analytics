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70" r:id="rId13"/>
    <p:sldId id="267" r:id="rId14"/>
    <p:sldId id="268" r:id="rId15"/>
    <p:sldId id="269" r:id="rId1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B2AFAF-C541-4097-8817-9170FA737D80}">
  <a:tblStyle styleId="{B6B2AFAF-C541-4097-8817-9170FA737D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7B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Reporting Delay</c:v>
                </c:pt>
                <c:pt idx="1">
                  <c:v>Part 1-2</c:v>
                </c:pt>
                <c:pt idx="2">
                  <c:v>TimeBucket</c:v>
                </c:pt>
                <c:pt idx="3">
                  <c:v>Has Weapon</c:v>
                </c:pt>
                <c:pt idx="4">
                  <c:v>IsWeekend</c:v>
                </c:pt>
                <c:pt idx="5">
                  <c:v>Month</c:v>
                </c:pt>
                <c:pt idx="6">
                  <c:v>Hour</c:v>
                </c:pt>
                <c:pt idx="7">
                  <c:v>Premise Cat.</c:v>
                </c:pt>
                <c:pt idx="8">
                  <c:v>AREA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0.04</c:v>
                </c:pt>
                <c:pt idx="1">
                  <c:v>0.05</c:v>
                </c:pt>
                <c:pt idx="2">
                  <c:v>0.06</c:v>
                </c:pt>
                <c:pt idx="3">
                  <c:v>7.0000000000000007E-2</c:v>
                </c:pt>
                <c:pt idx="4">
                  <c:v>7.0000000000000007E-2</c:v>
                </c:pt>
                <c:pt idx="5">
                  <c:v>0.09</c:v>
                </c:pt>
                <c:pt idx="6">
                  <c:v>0.21</c:v>
                </c:pt>
                <c:pt idx="7">
                  <c:v>0.18</c:v>
                </c:pt>
                <c:pt idx="8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18-47A8-AAFA-E6BB555AAF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9FA2D63A-10A3-F152-1DDA-3AEECB74810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754880" cy="384048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457200" y="100584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SafeCity Analytics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457200" y="178308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Predictive Crime Analysis of Los Angeles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457200" y="2697480"/>
            <a:ext cx="3200400" cy="4572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Harsh Mahesh Tikone  |  Dev Desai  |  Shwetangi Singh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EAS 587: Data-Intensive Computing  ·  Spring 2026  ·  University at Buffalo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l="50486" t="19942" r="2500" b="16478"/>
          <a:stretch/>
        </p:blipFill>
        <p:spPr>
          <a:xfrm>
            <a:off x="4572000" y="873767"/>
            <a:ext cx="4298949" cy="3263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164592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9BAC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C9BAC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274320" y="3200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74320" y="1005840"/>
            <a:ext cx="2011680" cy="347472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7432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EDA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2057400"/>
            <a:ext cx="18288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62K LAPD crime records · 10 cleaning operations · 10 EDA analyses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423160" y="1005840"/>
            <a:ext cx="2011680" cy="3474720"/>
          </a:xfrm>
          <a:prstGeom prst="rect">
            <a:avLst/>
          </a:prstGeom>
          <a:solidFill>
            <a:srgbClr val="1C9BAC"/>
          </a:solidFill>
          <a:ln w="12700" cap="flat" cmpd="sng">
            <a:solidFill>
              <a:srgbClr val="1C9BA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423160" y="1097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42316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880360" y="1920240"/>
            <a:ext cx="10972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514600" y="2057400"/>
            <a:ext cx="18288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algorithms · Crime category, severity, weapon risk, hotspots · MCP server deployed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0" y="1005840"/>
            <a:ext cx="2011680" cy="34747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0" y="1097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Spark &amp; Databricks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029200" y="1920240"/>
            <a:ext cx="10972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663440" y="2057400"/>
            <a:ext cx="18288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Databricks Delta Lake · NIBRS integration · Bronze-Silver-Gold pipeline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720840" y="1005840"/>
            <a:ext cx="2011680" cy="347472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720840" y="1097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72084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178040" y="1920240"/>
            <a:ext cx="10972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812280" y="2057400"/>
            <a:ext cx="18288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 · Complete pipeline synthesis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48006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EAS 587 · SafeCity Analytics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400"/>
              <a:buFont typeface="Calibri"/>
              <a:buNone/>
            </a:pPr>
            <a:r>
              <a:rPr lang="en-US" sz="1400" i="1" dirty="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Most crime dashboards describe the past. We predict the future.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20040" y="1234440"/>
            <a:ext cx="8503920" cy="1051560"/>
          </a:xfrm>
          <a:prstGeom prst="rect">
            <a:avLst/>
          </a:prstGeom>
          <a:solidFill>
            <a:srgbClr val="0D3D52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20040" y="1234440"/>
            <a:ext cx="54864" cy="105156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Crime Category Prediction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1673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Given time, location, and context — what type of crime is this? Supports dispatch pre-fill and officer prep.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0040" y="2423160"/>
            <a:ext cx="8503920" cy="1051560"/>
          </a:xfrm>
          <a:prstGeom prst="rect">
            <a:avLst/>
          </a:prstGeom>
          <a:solidFill>
            <a:srgbClr val="0D3D52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20040" y="2423160"/>
            <a:ext cx="54864" cy="105156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48640" y="25146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Weapon-Involvement Risk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28620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Does this incident carry elevated weapon risk? Calibrated probability score for officer safety decisions.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0040" y="3611880"/>
            <a:ext cx="8503920" cy="1051560"/>
          </a:xfrm>
          <a:prstGeom prst="rect">
            <a:avLst/>
          </a:prstGeom>
          <a:solidFill>
            <a:srgbClr val="0D3D52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20040" y="3611880"/>
            <a:ext cx="54864" cy="1051560"/>
          </a:xfrm>
          <a:prstGeom prst="rect">
            <a:avLst/>
          </a:prstGeom>
          <a:solidFill>
            <a:srgbClr val="1C9BAC"/>
          </a:solidFill>
          <a:ln w="12700" cap="flat" cmpd="sng">
            <a:solidFill>
              <a:srgbClr val="1C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 Geographic Hotspot Discovery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8640" y="40507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Which clusters account for highest density? Supports patrol scheduling and resource allocation.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164592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9BAC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C9BAC"/>
                </a:solidFill>
                <a:latin typeface="Calibri"/>
                <a:ea typeface="Calibri"/>
                <a:cs typeface="Calibri"/>
                <a:sym typeface="Calibri"/>
              </a:rPr>
              <a:t>PHASE 1 — DATA &amp; EDA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28600" y="2743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Calibri"/>
              <a:buNone/>
            </a:pPr>
            <a:r>
              <a:rPr lang="en-US" sz="2600" b="1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 Collection &amp; Cleaning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274320" y="914400"/>
            <a:ext cx="2011680" cy="118872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274320" y="9601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62,117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LAPD Crime 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(2024)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423160" y="914400"/>
            <a:ext cx="2011680" cy="1188720"/>
          </a:xfrm>
          <a:prstGeom prst="rect">
            <a:avLst/>
          </a:prstGeom>
          <a:solidFill>
            <a:srgbClr val="1C9BAC"/>
          </a:solidFill>
          <a:ln w="12700" cap="flat" cmpd="sng">
            <a:solidFill>
              <a:srgbClr val="1C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2423160" y="9601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423160" y="1554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Columns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572000" y="914400"/>
            <a:ext cx="2011680" cy="118872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572000" y="9601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0" y="1554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Cleaning Operations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720840" y="914400"/>
            <a:ext cx="2011680" cy="118872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720840" y="9601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720840" y="1554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74320" y="22860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Cleaning Operations: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74320" y="260604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1.  Date parsing + Hour / Month / DayOfWeek extraction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74320" y="29900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2.  Victim age=0 → NaN (unknown, not infant)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74320" y="3374136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3.  140+ crime codes → 12 semantic categories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74320" y="3758184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4.  Crm Cd 2/3/4 removed (98–100% missing)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74320" y="4142232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5.  Reporting delay computed (days to report)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663440" y="22860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EDA Findings: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663440" y="2578608"/>
            <a:ext cx="54864" cy="25603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800600" y="2578608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Peak crime: 6 PM · Highest day: Friday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663440" y="2962656"/>
            <a:ext cx="54864" cy="25603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800600" y="2962656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Vehicle Crime = 46.2% of all incidents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663440" y="3346704"/>
            <a:ext cx="54864" cy="25603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800600" y="3346704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Only 5.9% of crimes involve a weapon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663440" y="3730752"/>
            <a:ext cx="54864" cy="25603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800600" y="3730752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Central LA: 6,024 crimes (highest area)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663440" y="4114800"/>
            <a:ext cx="54864" cy="25603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800600" y="411480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75% of crimes reported within 3 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57200" y="48006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Source: LAPD Crime Data from 2020 to Present (data.lacity.org)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64592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9BAC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C9BAC"/>
                </a:solidFill>
                <a:latin typeface="Calibri"/>
                <a:ea typeface="Calibri"/>
                <a:cs typeface="Calibri"/>
                <a:sym typeface="Calibri"/>
              </a:rPr>
              <a:t>PHASE 2 — MACHINE LEARNING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Six ML Algorithms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7"/>
          <p:cNvGraphicFramePr/>
          <p:nvPr/>
        </p:nvGraphicFramePr>
        <p:xfrm>
          <a:off x="274320" y="868680"/>
          <a:ext cx="8595350" cy="3712450"/>
        </p:xfrm>
        <a:graphic>
          <a:graphicData uri="http://schemas.openxmlformats.org/drawingml/2006/table">
            <a:tbl>
              <a:tblPr>
                <a:noFill/>
                <a:tableStyleId>{B6B2AFAF-C541-4097-8817-9170FA737D80}</a:tableStyleId>
              </a:tblPr>
              <a:tblGrid>
                <a:gridCol w="1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Variable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Design Choice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B8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D7B8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In-class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Crime Category (13-class)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k=7, StandardScaler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B8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D7B8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In-class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Crime Category (13-class)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GridSearchCV tuning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k-Means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B8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D7B8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In-class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 Hotspots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k=2, silhouette guided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Naive Bayes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B8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D7B8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In-class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Crime Category (13-class)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ComplementNB selected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691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8B69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Outside class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Crime Category + MCP server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RandomizedSearchCV · balanced weights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Reg.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691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8B69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Outside class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Weapon Involvement (binary)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556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Calibrated probability scoring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9" name="Google Shape;119;p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48006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EAS 587 · SafeCity Analytics · Phase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164592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9BAC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C9BAC"/>
                </a:solidFill>
                <a:latin typeface="Calibri"/>
                <a:ea typeface="Calibri"/>
                <a:cs typeface="Calibri"/>
                <a:sym typeface="Calibri"/>
              </a:rPr>
              <a:t>PHASE 2 — RESULTS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Model Performance Summary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669280" y="90525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79.5%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720840" y="905256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kNN</a:t>
            </a:r>
            <a:r>
              <a:rPr lang="en-US" sz="9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(k=7)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Crime Category accuracy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(derived label)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669280" y="172821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81.5%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720840" y="1728216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Classifier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crime category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669280" y="255117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0.886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720840" y="2551176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weapon risk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669280" y="3374136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0.546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720840" y="3374136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Silhouette score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k=2 clusters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7200" y="48006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All models trained on 80/20 train-test split with random seed 42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B3E888-F336-1165-B606-7F7932ACD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96667"/>
            <a:ext cx="8796528" cy="30304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A0DAE676-6EB4-B176-145C-84487811D4F4}"/>
              </a:ext>
            </a:extLst>
          </p:cNvPr>
          <p:cNvSpPr/>
          <p:nvPr/>
        </p:nvSpPr>
        <p:spPr>
          <a:xfrm>
            <a:off x="164592" y="164592"/>
            <a:ext cx="1886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C9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DECISION TREE</a:t>
            </a:r>
            <a:endParaRPr lang="en-US" sz="8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AC87B7F-4E0E-C0F1-0270-99BBDC76D5EB}"/>
              </a:ext>
            </a:extLst>
          </p:cNvPr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Feature Importances</a:t>
            </a:r>
            <a:endParaRPr lang="en-US" sz="24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DD9C5FA1-985E-370C-3A87-BFE26EC7CA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2511359"/>
              </p:ext>
            </p:extLst>
          </p:nvPr>
        </p:nvGraphicFramePr>
        <p:xfrm>
          <a:off x="274320" y="868680"/>
          <a:ext cx="47548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C586CE55-631D-E04A-780D-77E12A17AF9A}"/>
              </a:ext>
            </a:extLst>
          </p:cNvPr>
          <p:cNvSpPr/>
          <p:nvPr/>
        </p:nvSpPr>
        <p:spPr>
          <a:xfrm>
            <a:off x="521208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8FCDCE-C3D1-25DF-154B-A6DFB800AFC4}"/>
              </a:ext>
            </a:extLst>
          </p:cNvPr>
          <p:cNvSpPr/>
          <p:nvPr/>
        </p:nvSpPr>
        <p:spPr>
          <a:xfrm>
            <a:off x="5212080" y="1280160"/>
            <a:ext cx="45720" cy="731520"/>
          </a:xfrm>
          <a:prstGeom prst="rect">
            <a:avLst/>
          </a:prstGeom>
          <a:solidFill>
            <a:srgbClr val="0D7B8E"/>
          </a:solidFill>
          <a:ln w="12700">
            <a:solidFill>
              <a:srgbClr val="0D7B8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D8CCB4-E9BE-4BED-DCEA-69F6D9C0D5F3}"/>
              </a:ext>
            </a:extLst>
          </p:cNvPr>
          <p:cNvSpPr/>
          <p:nvPr/>
        </p:nvSpPr>
        <p:spPr>
          <a:xfrm>
            <a:off x="534924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Category drives the tree (~45%)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D5E7D1-7619-A915-0BB3-E84DFE7A96E9}"/>
              </a:ext>
            </a:extLst>
          </p:cNvPr>
          <p:cNvSpPr/>
          <p:nvPr/>
        </p:nvSpPr>
        <p:spPr>
          <a:xfrm>
            <a:off x="5349240" y="157276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crime occurs is the strongest single predictor of its type — land use and patrol district structure dominate.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5E7B35-CE2D-3F47-E195-6A63F3EB877A}"/>
              </a:ext>
            </a:extLst>
          </p:cNvPr>
          <p:cNvSpPr/>
          <p:nvPr/>
        </p:nvSpPr>
        <p:spPr>
          <a:xfrm>
            <a:off x="5212080" y="2176272"/>
            <a:ext cx="45720" cy="731520"/>
          </a:xfrm>
          <a:prstGeom prst="rect">
            <a:avLst/>
          </a:prstGeom>
          <a:solidFill>
            <a:srgbClr val="0D7B8E"/>
          </a:solidFill>
          <a:ln w="12700">
            <a:solidFill>
              <a:srgbClr val="0D7B8E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7D2BBE-4D33-BA1D-7358-46B14A320616}"/>
              </a:ext>
            </a:extLst>
          </p:cNvPr>
          <p:cNvSpPr/>
          <p:nvPr/>
        </p:nvSpPr>
        <p:spPr>
          <a:xfrm>
            <a:off x="5349240" y="2176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matters (~28%)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EA8A9C-B7B0-1333-42DE-07EF00B6D820}"/>
              </a:ext>
            </a:extLst>
          </p:cNvPr>
          <p:cNvSpPr/>
          <p:nvPr/>
        </p:nvSpPr>
        <p:spPr>
          <a:xfrm>
            <a:off x="5349240" y="24688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classification level significantly influences tree splits.</a:t>
            </a: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F7D6F33-64B1-D3CE-9CA6-AC276BB97575}"/>
              </a:ext>
            </a:extLst>
          </p:cNvPr>
          <p:cNvSpPr/>
          <p:nvPr/>
        </p:nvSpPr>
        <p:spPr>
          <a:xfrm>
            <a:off x="5212080" y="3072384"/>
            <a:ext cx="45720" cy="731520"/>
          </a:xfrm>
          <a:prstGeom prst="rect">
            <a:avLst/>
          </a:prstGeom>
          <a:solidFill>
            <a:srgbClr val="0D7B8E"/>
          </a:solidFill>
          <a:ln w="12700">
            <a:solidFill>
              <a:srgbClr val="0D7B8E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CDFB1C9-66C9-8079-DB5E-C7736E0EF1A8}"/>
              </a:ext>
            </a:extLst>
          </p:cNvPr>
          <p:cNvSpPr/>
          <p:nvPr/>
        </p:nvSpPr>
        <p:spPr>
          <a:xfrm>
            <a:off x="5349240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1-2 &amp; Reporting Delay carry modest weight (~6-7%)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688AE80-7DD7-2CDC-5979-200AB2712AE2}"/>
              </a:ext>
            </a:extLst>
          </p:cNvPr>
          <p:cNvSpPr/>
          <p:nvPr/>
        </p:nvSpPr>
        <p:spPr>
          <a:xfrm>
            <a:off x="5349240" y="33649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administrative features provide limited additional signal.</a:t>
            </a:r>
            <a:endParaRPr lang="en-US" sz="9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F67FE23-00F2-BA78-E420-8029D891F370}"/>
              </a:ext>
            </a:extLst>
          </p:cNvPr>
          <p:cNvSpPr/>
          <p:nvPr/>
        </p:nvSpPr>
        <p:spPr>
          <a:xfrm>
            <a:off x="5212080" y="3968496"/>
            <a:ext cx="45720" cy="7315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34627C9-4B3D-02D8-AC70-C230792FA0C4}"/>
              </a:ext>
            </a:extLst>
          </p:cNvPr>
          <p:cNvSpPr/>
          <p:nvPr/>
        </p:nvSpPr>
        <p:spPr>
          <a:xfrm>
            <a:off x="5349240" y="3968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classes struggle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77BEA50-6522-AF35-43A2-9F26337E01D4}"/>
              </a:ext>
            </a:extLst>
          </p:cNvPr>
          <p:cNvSpPr/>
          <p:nvPr/>
        </p:nvSpPr>
        <p:spPr>
          <a:xfrm>
            <a:off x="5349240" y="426110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Homicide and Arson show F1 ≈ 0. With &lt;20 test samples, even a perfect model can't demonstrate recall.</a:t>
            </a: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D40EDE5-7CE3-FBF2-79A9-8A7CB1872701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F5E2A2D-B047-C4F9-A63B-AB44BBB02FEA}"/>
              </a:ext>
            </a:extLst>
          </p:cNvPr>
          <p:cNvSpPr/>
          <p:nvPr/>
        </p:nvSpPr>
        <p:spPr>
          <a:xfrm>
            <a:off x="45720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82.5% · Weighted F1: 0.809 · 13 crime categories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Geographic Crime Hotspots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k-Means Clustering (k=2, Silhouette = 0.546)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0A3347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457200" y="1115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0 — West / Coastal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›  Districts: West LA, Pacific, Hollywood, Wilshire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48640" y="2057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›  Top crime: Vehicle Crime (44%)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4864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›  Notable: High Theft rate in commercial zones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48640" y="2971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›  Reporting delay: avg 2.1 days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0A3347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846320" y="1115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Cluster 1 — Central / Inland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846320" y="16002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›  Districts: Central, Newton, 77th St, Southwest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846320" y="2057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›  Top crime: Vehicle Crime (48%) — slightly higher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846320" y="25146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›  Notable: Higher Assault share vs Cluster 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846320" y="29718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›  Central LA alone: 6,024 incidents (most)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DBSCAN was tried — labeled 60%+ as noise. LA crime is spatially diffuse; k-Means was retained.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164592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9BAC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C9BAC"/>
                </a:solidFill>
                <a:latin typeface="Calibri"/>
                <a:ea typeface="Calibri"/>
                <a:cs typeface="Calibri"/>
                <a:sym typeface="Calibri"/>
              </a:rPr>
              <a:t>PHASE 2 — WEAPON RISK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Logistic Regression: Weapon-Involvement Risk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274320" y="914400"/>
            <a:ext cx="2286000" cy="18288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274320" y="960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274320" y="1325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4200"/>
              <a:buFont typeface="Calibri"/>
              <a:buNone/>
            </a:pPr>
            <a:r>
              <a:rPr lang="en-US" sz="4200" b="1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0.886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274320" y="19659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Calibrated probability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for weapon risk ranking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7480" y="86868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5577840" y="914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577840" y="1353312"/>
            <a:ext cx="45720" cy="68580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5715000" y="13533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Base rate: 5.9%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715000" y="1645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Weapon crimes are rare — a hard target. Precision on the weapon class is 0.26.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577840" y="2221992"/>
            <a:ext cx="45720" cy="68580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5715000" y="22219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Probabilities &gt; labels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715000" y="25146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Officers need a risk score, not a binary guess. Threshold can be tuned by district.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577840" y="3090672"/>
            <a:ext cx="45720" cy="68580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5715000" y="30906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ROC-AUC = 0.886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715000" y="33832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Model ranks high-risk incidents well — the top 10% of scores capture most weapon cases.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9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57200" y="48006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Logistic Regression with L2 regularization · class_weight='balanced'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164592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9BAC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C9BAC"/>
                </a:solidFill>
                <a:latin typeface="Calibri"/>
                <a:ea typeface="Calibri"/>
                <a:cs typeface="Calibri"/>
                <a:sym typeface="Calibri"/>
              </a:rPr>
              <a:t>PHASE 2 — MCP SERVER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MCP: Natural Language → Crime Prediction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274320" y="8961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274320" y="1280160"/>
            <a:ext cx="384048" cy="384048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274320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749808" y="12801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Register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49808" y="153619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claude mcp add -s project safecity-crime-predictor -- python3 src/mcp/server.py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274320" y="2176272"/>
            <a:ext cx="384048" cy="384048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274320" y="21762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749808" y="217627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Model loads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749808" y="2432304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Random Forest (pkl) loaded; auto-retrains from CSV if missing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274320" y="3072384"/>
            <a:ext cx="384048" cy="384048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274320" y="30723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749808" y="307238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User asks Claude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749808" y="332841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"What crime is likely at 11 PM on a public street in area 13?"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274320" y="3968496"/>
            <a:ext cx="384048" cy="384048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274320" y="39684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749808" y="396849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Tool called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749808" y="42245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predict_crime_category → returns category + top-3 probability breakdown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4663440" y="89611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Exposed Tools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663440" y="1280160"/>
            <a:ext cx="4206240" cy="105156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4754880" y="132588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B8E"/>
              </a:buClr>
              <a:buSzPts val="1050"/>
              <a:buFont typeface="Courier"/>
              <a:buNone/>
            </a:pPr>
            <a:r>
              <a:rPr lang="en-US" sz="1050" b="1">
                <a:solidFill>
                  <a:srgbClr val="0D7B8E"/>
                </a:solidFill>
                <a:latin typeface="Courier"/>
                <a:ea typeface="Courier"/>
                <a:cs typeface="Courier"/>
                <a:sym typeface="Courier"/>
              </a:rPr>
              <a:t>predict_crime_category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754880" y="162763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Input: area, hour, month, weekend, weapon, premise, time bucket, severity, part, reporting delay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Output: category label + top-3 probability breakdown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663440" y="2468880"/>
            <a:ext cx="4206240" cy="105156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4754880" y="251460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B8E"/>
              </a:buClr>
              <a:buSzPts val="1050"/>
              <a:buFont typeface="Courier"/>
              <a:buNone/>
            </a:pPr>
            <a:r>
              <a:rPr lang="en-US" sz="1050" b="1">
                <a:solidFill>
                  <a:srgbClr val="0D7B8E"/>
                </a:solidFill>
                <a:latin typeface="Courier"/>
                <a:ea typeface="Courier"/>
                <a:cs typeface="Courier"/>
                <a:sym typeface="Courier"/>
              </a:rPr>
              <a:t>list_crime_categories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754880" y="281635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Returns all 13 supported crime category labels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663440" y="3657600"/>
            <a:ext cx="4206240" cy="1051560"/>
          </a:xfrm>
          <a:prstGeom prst="rect">
            <a:avLst/>
          </a:prstGeom>
          <a:solidFill>
            <a:srgbClr val="1B2A4A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4754880" y="370332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B8E"/>
              </a:buClr>
              <a:buSzPts val="1050"/>
              <a:buFont typeface="Courier"/>
              <a:buNone/>
            </a:pPr>
            <a:r>
              <a:rPr lang="en-US" sz="1050" b="1">
                <a:solidFill>
                  <a:srgbClr val="0D7B8E"/>
                </a:solidFill>
                <a:latin typeface="Courier"/>
                <a:ea typeface="Courier"/>
                <a:cs typeface="Courier"/>
                <a:sym typeface="Courier"/>
              </a:rPr>
              <a:t>server_health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754880" y="400507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Returns model status, feature count, and model path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57200" y="48006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Fallback: server auto-retrains Random Forest from data/processed/crime_data_cleaned.csv if pkl missing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3: Spark + Delta Lake Architecture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274320" y="1005840"/>
            <a:ext cx="1828800" cy="1097280"/>
          </a:xfrm>
          <a:prstGeom prst="rect">
            <a:avLst/>
          </a:prstGeom>
          <a:solidFill>
            <a:srgbClr val="0A3347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27432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LAPD CSV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(data.gov)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274320" y="2377440"/>
            <a:ext cx="1828800" cy="1097280"/>
          </a:xfrm>
          <a:prstGeom prst="rect">
            <a:avLst/>
          </a:prstGeom>
          <a:solidFill>
            <a:srgbClr val="0A3347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274320" y="24688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NIBRS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(FBI)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2"/>
          <p:cNvCxnSpPr/>
          <p:nvPr/>
        </p:nvCxnSpPr>
        <p:spPr>
          <a:xfrm>
            <a:off x="2103120" y="1554480"/>
            <a:ext cx="0" cy="1097280"/>
          </a:xfrm>
          <a:prstGeom prst="straightConnector1">
            <a:avLst/>
          </a:prstGeom>
          <a:noFill/>
          <a:ln w="19050" cap="flat" cmpd="sng">
            <a:solidFill>
              <a:srgbClr val="0D7B8E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9" name="Google Shape;229;p12"/>
          <p:cNvCxnSpPr/>
          <p:nvPr/>
        </p:nvCxnSpPr>
        <p:spPr>
          <a:xfrm>
            <a:off x="2103120" y="2103120"/>
            <a:ext cx="274320" cy="0"/>
          </a:xfrm>
          <a:prstGeom prst="straightConnector1">
            <a:avLst/>
          </a:prstGeom>
          <a:noFill/>
          <a:ln w="1905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0" name="Google Shape;230;p12"/>
          <p:cNvSpPr/>
          <p:nvPr/>
        </p:nvSpPr>
        <p:spPr>
          <a:xfrm>
            <a:off x="731520" y="1005840"/>
            <a:ext cx="1645920" cy="2926080"/>
          </a:xfrm>
          <a:prstGeom prst="rect">
            <a:avLst/>
          </a:prstGeom>
          <a:solidFill>
            <a:srgbClr val="6B4C11"/>
          </a:solidFill>
          <a:ln w="1905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731520" y="1005840"/>
            <a:ext cx="1645920" cy="41148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731520" y="102412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BRONZE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777240" y="1508760"/>
            <a:ext cx="15544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Raw ingestion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bronze_mydata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(Delta table)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12"/>
          <p:cNvCxnSpPr/>
          <p:nvPr/>
        </p:nvCxnSpPr>
        <p:spPr>
          <a:xfrm>
            <a:off x="2423160" y="2468880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" name="Google Shape;235;p12"/>
          <p:cNvSpPr/>
          <p:nvPr/>
        </p:nvSpPr>
        <p:spPr>
          <a:xfrm>
            <a:off x="2560320" y="1005840"/>
            <a:ext cx="1645920" cy="2926080"/>
          </a:xfrm>
          <a:prstGeom prst="rect">
            <a:avLst/>
          </a:prstGeom>
          <a:solidFill>
            <a:srgbClr val="3D4451"/>
          </a:solidFill>
          <a:ln w="19050" cap="flat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2560320" y="1005840"/>
            <a:ext cx="1645920" cy="41148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2560320" y="102412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SILVER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2606040" y="1508760"/>
            <a:ext cx="15544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Clean + join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silver_lapd_crimes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(LAPD + NIBRS)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2"/>
          <p:cNvCxnSpPr/>
          <p:nvPr/>
        </p:nvCxnSpPr>
        <p:spPr>
          <a:xfrm>
            <a:off x="4251960" y="2468880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0" name="Google Shape;240;p12"/>
          <p:cNvSpPr/>
          <p:nvPr/>
        </p:nvSpPr>
        <p:spPr>
          <a:xfrm>
            <a:off x="4389120" y="1005840"/>
            <a:ext cx="1645920" cy="2926080"/>
          </a:xfrm>
          <a:prstGeom prst="rect">
            <a:avLst/>
          </a:prstGeom>
          <a:solidFill>
            <a:srgbClr val="5C4800"/>
          </a:solidFill>
          <a:ln w="19050" cap="flat" cmpd="sng">
            <a:solidFill>
              <a:srgbClr val="DAA5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4389120" y="1005840"/>
            <a:ext cx="1645920" cy="411480"/>
          </a:xfrm>
          <a:prstGeom prst="rect">
            <a:avLst/>
          </a:prstGeom>
          <a:solidFill>
            <a:srgbClr val="DAA520"/>
          </a:solidFill>
          <a:ln w="12700" cap="flat" cmpd="sng">
            <a:solidFill>
              <a:srgbClr val="DAA5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4389120" y="102412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4434840" y="1508760"/>
            <a:ext cx="15544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Business aggregates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6 Gold tables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by area, time, category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2"/>
          <p:cNvCxnSpPr/>
          <p:nvPr/>
        </p:nvCxnSpPr>
        <p:spPr>
          <a:xfrm>
            <a:off x="6080760" y="2468880"/>
            <a:ext cx="256032" cy="0"/>
          </a:xfrm>
          <a:prstGeom prst="straightConnector1">
            <a:avLst/>
          </a:prstGeom>
          <a:noFill/>
          <a:ln w="1905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p12"/>
          <p:cNvSpPr/>
          <p:nvPr/>
        </p:nvSpPr>
        <p:spPr>
          <a:xfrm>
            <a:off x="6217920" y="1005840"/>
            <a:ext cx="1645920" cy="2926080"/>
          </a:xfrm>
          <a:prstGeom prst="rect">
            <a:avLst/>
          </a:prstGeom>
          <a:solidFill>
            <a:srgbClr val="0A4A5C"/>
          </a:solidFill>
          <a:ln w="1905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6217920" y="1005840"/>
            <a:ext cx="1645920" cy="41148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6217920" y="102412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MLlib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6263640" y="1508760"/>
            <a:ext cx="15544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Pipeline model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Databricks saved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Inference Server (Phase 2)  ·  src/mcp/server.py  ·  predict_crime_category · list_crime_categories · server_health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B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itle"/>
          <p:cNvSpPr/>
          <p:nvPr/>
        </p:nvSpPr>
        <p:spPr>
          <a:xfrm>
            <a:off x="365760" y="100000"/>
            <a:ext cx="841248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</a:rPr>
              <a:t>PHASE 3 — NIBRS Integration &amp; MLlib Results</a:t>
            </a:r>
          </a:p>
        </p:txBody>
      </p:sp>
      <p:sp>
        <p:nvSpPr>
          <p:cNvPr id="303" name="Subtitle"/>
          <p:cNvSpPr/>
          <p:nvPr/>
        </p:nvSpPr>
        <p:spPr>
          <a:xfrm>
            <a:off x="365760" y="540000"/>
            <a:ext cx="8412480" cy="24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0" rIns="91425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D7B8E"/>
                </a:solidFill>
                <a:latin typeface="Calibri"/>
              </a:rPr>
              <a:t>8 Databricks Notebooks  |  Cross-Source Join on CaseNo  |  3 NIBRS Insights  |  Spark MLlib Pipeline Saved</a:t>
            </a:r>
          </a:p>
        </p:txBody>
      </p:sp>
      <p:sp>
        <p:nvSpPr>
          <p:cNvPr id="304" name="LeftBG"/>
          <p:cNvSpPr/>
          <p:nvPr/>
        </p:nvSpPr>
        <p:spPr>
          <a:xfrm>
            <a:off x="274320" y="820000"/>
            <a:ext cx="4080000" cy="3080000"/>
          </a:xfrm>
          <a:prstGeom prst="rect">
            <a:avLst/>
          </a:prstGeom>
          <a:solidFill>
            <a:srgbClr val="0D1F35"/>
          </a:solidFill>
          <a:ln w="19050">
            <a:solidFill>
              <a:srgbClr val="0D7B8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LeftHeader"/>
          <p:cNvSpPr/>
          <p:nvPr/>
        </p:nvSpPr>
        <p:spPr>
          <a:xfrm>
            <a:off x="274320" y="820000"/>
            <a:ext cx="4080000" cy="290000"/>
          </a:xfrm>
          <a:prstGeom prst="rect">
            <a:avLst/>
          </a:prstGeom>
          <a:solidFill>
            <a:srgbClr val="0A3347"/>
          </a:solidFill>
          <a:ln>
            <a:noFill/>
          </a:ln>
        </p:spPr>
        <p:txBody>
          <a:bodyPr wrap="square" lIns="150000" tIns="60000" rIns="60000" bIns="6000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E2B96A"/>
                </a:solidFill>
                <a:latin typeface="Calibri"/>
              </a:rPr>
              <a:t>8-Notebook Databricks Pipeline</a:t>
            </a:r>
          </a:p>
        </p:txBody>
      </p:sp>
      <p:sp>
        <p:nvSpPr>
          <p:cNvPr id="306" name="NotebookList"/>
          <p:cNvSpPr/>
          <p:nvPr/>
        </p:nvSpPr>
        <p:spPr>
          <a:xfrm>
            <a:off x="274320" y="1110000"/>
            <a:ext cx="4080000" cy="2790000"/>
          </a:xfrm>
          <a:prstGeom prst="rect">
            <a:avLst/>
          </a:prstGeom>
          <a:noFill/>
          <a:ln>
            <a:noFill/>
          </a:ln>
        </p:spPr>
        <p:txBody>
          <a:bodyPr wrap="square" lIns="160000" tIns="120000" rIns="100000" bIns="600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980" b="1">
                <a:solidFill>
                  <a:srgbClr val="0D7B8E"/>
                </a:solidFill>
                <a:latin typeface="Calibri"/>
              </a:rPr>
              <a:t>LAPD Pipeline (Notebooks 01-04)</a:t>
            </a:r>
          </a:p>
          <a:p>
            <a:pPr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890">
                <a:solidFill>
                  <a:srgbClr val="D6EEF3"/>
                </a:solidFill>
                <a:latin typeface="Calibri"/>
              </a:rPr>
              <a:t>01  Bronze — raw CSV to bronze_mydata Delta table</a:t>
            </a:r>
          </a:p>
          <a:p>
            <a:pPr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890">
                <a:solidFill>
                  <a:srgbClr val="D6EEF3"/>
                </a:solidFill>
                <a:latin typeface="Calibri"/>
              </a:rPr>
              <a:t>02  Silver — clean, transform, derive features</a:t>
            </a:r>
          </a:p>
          <a:p>
            <a:pPr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890">
                <a:solidFill>
                  <a:srgbClr val="D6EEF3"/>
                </a:solidFill>
                <a:latin typeface="Calibri"/>
              </a:rPr>
              <a:t>03  Gold — 6 business aggregate Delta tables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890">
                <a:solidFill>
                  <a:srgbClr val="D6EEF3"/>
                </a:solidFill>
                <a:latin typeface="Calibri"/>
              </a:rPr>
              <a:t>04  MLlib — Decision Tree + Naive Bayes (Spark)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980" b="1">
                <a:solidFill>
                  <a:srgbClr val="0D7B8E"/>
                </a:solidFill>
                <a:latin typeface="Calibri"/>
              </a:rPr>
              <a:t>NIBRS Pipeline (Notebooks 05-08)</a:t>
            </a:r>
          </a:p>
          <a:p>
            <a:pPr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890">
                <a:solidFill>
                  <a:srgbClr val="D6EEF3"/>
                </a:solidFill>
                <a:latin typeface="Calibri"/>
              </a:rPr>
              <a:t>05  Bronze — NIBRS Victims (232K) + Offenses (250K)</a:t>
            </a:r>
          </a:p>
          <a:p>
            <a:pPr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890">
                <a:solidFill>
                  <a:srgbClr val="D6EEF3"/>
                </a:solidFill>
                <a:latin typeface="Calibri"/>
              </a:rPr>
              <a:t>06  Silver — left-join LAPD + NIBRS via CaseNo</a:t>
            </a:r>
          </a:p>
          <a:p>
            <a:pPr algn="l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890">
                <a:solidFill>
                  <a:srgbClr val="D6EEF3"/>
                </a:solidFill>
                <a:latin typeface="Calibri"/>
              </a:rPr>
              <a:t>07  Insights — 3 cross-source statistical analyses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0">
                <a:solidFill>
                  <a:srgbClr val="D6EEF3"/>
                </a:solidFill>
                <a:latin typeface="Calibri"/>
              </a:rPr>
              <a:t>08  MLlib LR — weapon prediction on merged data</a:t>
            </a:r>
          </a:p>
        </p:txBody>
      </p:sp>
      <p:sp>
        <p:nvSpPr>
          <p:cNvPr id="307" name="Insight1"/>
          <p:cNvSpPr/>
          <p:nvPr/>
        </p:nvSpPr>
        <p:spPr>
          <a:xfrm>
            <a:off x="4534320" y="820000"/>
            <a:ext cx="4335360" cy="940000"/>
          </a:xfrm>
          <a:prstGeom prst="rect">
            <a:avLst/>
          </a:prstGeom>
          <a:solidFill>
            <a:srgbClr val="0A3347"/>
          </a:solidFill>
          <a:ln w="19050">
            <a:solidFill>
              <a:srgbClr val="0D7B8E"/>
            </a:solidFill>
          </a:ln>
        </p:spPr>
        <p:txBody>
          <a:bodyPr wrap="square" lIns="150000" tIns="120000" rIns="120000" bIns="600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50" b="1">
                <a:solidFill>
                  <a:srgbClr val="02C39A"/>
                </a:solidFill>
                <a:latin typeface="Calibri"/>
              </a:rPr>
              <a:t>Insight 1: NIBRS Confirms LA Vehicle Crime Spike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D6EEF3"/>
                </a:solidFill>
                <a:latin typeface="Calibri"/>
              </a:rPr>
              <a:t>LAPD vehicle crime rate (46.2%) exceeds the national NIBRS baseline. Cross-joining both sources on CaseNo shows the pattern holds independently in federal data — not an artifact of LAPD classification alone.</a:t>
            </a:r>
          </a:p>
        </p:txBody>
      </p:sp>
      <p:sp>
        <p:nvSpPr>
          <p:cNvPr id="308" name="Insight2"/>
          <p:cNvSpPr/>
          <p:nvPr/>
        </p:nvSpPr>
        <p:spPr>
          <a:xfrm>
            <a:off x="4534320" y="1790000"/>
            <a:ext cx="4335360" cy="940000"/>
          </a:xfrm>
          <a:prstGeom prst="rect">
            <a:avLst/>
          </a:prstGeom>
          <a:solidFill>
            <a:srgbClr val="0A3347"/>
          </a:solidFill>
          <a:ln w="19050">
            <a:solidFill>
              <a:srgbClr val="0D7B8E"/>
            </a:solidFill>
          </a:ln>
        </p:spPr>
        <p:txBody>
          <a:bodyPr wrap="square" lIns="150000" tIns="120000" rIns="120000" bIns="600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50" b="1">
                <a:solidFill>
                  <a:srgbClr val="02C39A"/>
                </a:solidFill>
                <a:latin typeface="Calibri"/>
              </a:rPr>
              <a:t>Insight 2: Temporal Patterns Agree Across Sources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D6EEF3"/>
                </a:solidFill>
                <a:latin typeface="Calibri"/>
              </a:rPr>
              <a:t>NIBRS hourly distribution (250K offenses) mirrors LAPD peak at 6 PM. Day-of-week patterns align across both agencies. Two independent sources, same signal — validates Phase 2 temporal features for ML.</a:t>
            </a:r>
          </a:p>
        </p:txBody>
      </p:sp>
      <p:sp>
        <p:nvSpPr>
          <p:cNvPr id="309" name="Insight3"/>
          <p:cNvSpPr/>
          <p:nvPr/>
        </p:nvSpPr>
        <p:spPr>
          <a:xfrm>
            <a:off x="4534320" y="2760000"/>
            <a:ext cx="4335360" cy="1140000"/>
          </a:xfrm>
          <a:prstGeom prst="rect">
            <a:avLst/>
          </a:prstGeom>
          <a:solidFill>
            <a:srgbClr val="0A3347"/>
          </a:solidFill>
          <a:ln w="19050">
            <a:solidFill>
              <a:srgbClr val="0D7B8E"/>
            </a:solidFill>
          </a:ln>
        </p:spPr>
        <p:txBody>
          <a:bodyPr wrap="square" lIns="150000" tIns="120000" rIns="120000" bIns="60000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50" b="1">
                <a:solidFill>
                  <a:srgbClr val="02C39A"/>
                </a:solidFill>
                <a:latin typeface="Calibri"/>
              </a:rPr>
              <a:t>Insight 3: Spark MLlib on Merged NIBRS+LAPD 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D6EEF3"/>
                </a:solidFill>
                <a:latin typeface="Calibri"/>
              </a:rPr>
              <a:t>Notebook 08 trains a Spark MLlib Logistic Regression on silver_lapd_crimes — adding NIBRS-specific features: DomesticViolence, GangRelated, HomelessVictim. Saved as full VectorAssembler + StandardScaler + LR pipeline to Databricks volumes for reproducible reuse.</a:t>
            </a:r>
          </a:p>
        </p:txBody>
      </p:sp>
      <p:sp>
        <p:nvSpPr>
          <p:cNvPr id="310" name="BottomBar"/>
          <p:cNvSpPr/>
          <p:nvPr/>
        </p:nvSpPr>
        <p:spPr>
          <a:xfrm>
            <a:off x="274320" y="4020000"/>
            <a:ext cx="8595360" cy="100000"/>
          </a:xfrm>
          <a:prstGeom prst="rect">
            <a:avLst/>
          </a:prstGeom>
          <a:solidFill>
            <a:srgbClr val="0D7B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BottomStats"/>
          <p:cNvSpPr/>
          <p:nvPr/>
        </p:nvSpPr>
        <p:spPr>
          <a:xfrm>
            <a:off x="274320" y="4120000"/>
            <a:ext cx="8595360" cy="700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txBody>
          <a:bodyPr wrap="square" lIns="150000" tIns="60000" rIns="120000" bIns="6000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Gold Tables: </a:t>
            </a:r>
            <a:r>
              <a:rPr lang="en-US" sz="1000">
                <a:solidFill>
                  <a:srgbClr val="D6EEF3"/>
                </a:solidFill>
                <a:latin typeface="Calibri"/>
              </a:rPr>
              <a:t>area summary, monthly trends, hourly patterns (weekday/weekend), victim profiles, hotspot features, ML features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E2B96A"/>
                </a:solidFill>
                <a:latin typeface="Calibri"/>
              </a:rPr>
              <a:t>Scale: </a:t>
            </a:r>
            <a:r>
              <a:rPr lang="en-US" sz="1000">
                <a:solidFill>
                  <a:srgbClr val="D6EEF3"/>
                </a:solidFill>
                <a:latin typeface="Calibri"/>
              </a:rPr>
              <a:t>232K NIBRS victims + 250K NIBRS offenses joined to 62K LAPD records via CaseNo left join</a:t>
            </a:r>
          </a:p>
        </p:txBody>
      </p:sp>
      <p:sp>
        <p:nvSpPr>
          <p:cNvPr id="312" name="PageNum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164592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9BAC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C9BAC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Key Insights Across the Pipeline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274320" y="914400"/>
            <a:ext cx="4160520" cy="1828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274320" y="914400"/>
            <a:ext cx="54864" cy="182880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411480" y="102412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01  Crime is structurally predictable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11480" y="1389888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82% category accuracy from area, hour, and premise type alone. Most variance is tied to land use and time — not randomness.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4617720" y="914400"/>
            <a:ext cx="4160520" cy="1828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4617720" y="914400"/>
            <a:ext cx="54864" cy="182880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4754880" y="102412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02  Weapon risk ranking works; weapon detection does not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754880" y="1389888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ROC-AUC 0.886 means the model ranks incidents by risk well. But with only 5.9% positive rate, binary precision is 0.26. Use thresholds, not hard labels.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274320" y="2926080"/>
            <a:ext cx="54864" cy="18288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411480" y="303580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03  LA crime geography is east-west, not cluster-dense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11480" y="3401568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k=2 beats finer granularity. The coastal vs. inland split is real and stable. DBSCAN failed because crime is diffuse — not point-clustered.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4617720" y="2926080"/>
            <a:ext cx="4160520" cy="1828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C9BAC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4617720" y="2926080"/>
            <a:ext cx="54864" cy="1828800"/>
          </a:xfrm>
          <a:prstGeom prst="rect">
            <a:avLst/>
          </a:prstGeom>
          <a:solidFill>
            <a:srgbClr val="1C9BAC"/>
          </a:solidFill>
          <a:ln w="12700" cap="flat" cmpd="sng">
            <a:solidFill>
              <a:srgbClr val="1C9B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4754880" y="303580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04  Shared preprocessing prevents silent bugs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4754880" y="3401568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single preprocess.py module across all six models eliminated per-script encoding drift and made the Spark pipeline reproducible.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365760" y="1234440"/>
            <a:ext cx="73152" cy="45720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548640" y="126187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Single year (2024) — no seasonal or trend analysis possible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365760" y="1892808"/>
            <a:ext cx="73152" cy="45720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548640" y="1920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48.5% unknown victim demographics limits demographic modeling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365760" y="2551176"/>
            <a:ext cx="73152" cy="45720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548640" y="257860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13-category label scheme loses fine-grained crime distinctions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4663440" y="1234440"/>
            <a:ext cx="4114800" cy="777240"/>
          </a:xfrm>
          <a:prstGeom prst="rect">
            <a:avLst/>
          </a:prstGeom>
          <a:solidFill>
            <a:srgbClr val="0A3347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4754880" y="128016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B8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D7B8E"/>
                </a:solidFill>
                <a:latin typeface="Calibri"/>
                <a:ea typeface="Calibri"/>
                <a:cs typeface="Calibri"/>
                <a:sym typeface="Calibri"/>
              </a:rPr>
              <a:t>→  Multi-year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4754880" y="157276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2020–2024 LAPD records would unlock seasonal trends and year-over-year baselines.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663440" y="2103120"/>
            <a:ext cx="4114800" cy="777240"/>
          </a:xfrm>
          <a:prstGeom prst="rect">
            <a:avLst/>
          </a:prstGeom>
          <a:solidFill>
            <a:srgbClr val="0A3347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4754880" y="214884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B8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D7B8E"/>
                </a:solidFill>
                <a:latin typeface="Calibri"/>
                <a:ea typeface="Calibri"/>
                <a:cs typeface="Calibri"/>
                <a:sym typeface="Calibri"/>
              </a:rPr>
              <a:t>→  Hierarchical crime taxonomy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754880" y="244144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Replace flat 13-class labels with a hierarchy — enables shared structure between related crimes.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4663440" y="2971800"/>
            <a:ext cx="4114800" cy="777240"/>
          </a:xfrm>
          <a:prstGeom prst="rect">
            <a:avLst/>
          </a:prstGeom>
          <a:solidFill>
            <a:srgbClr val="0A3347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4754880" y="30175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B8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D7B8E"/>
                </a:solidFill>
                <a:latin typeface="Calibri"/>
                <a:ea typeface="Calibri"/>
                <a:cs typeface="Calibri"/>
                <a:sym typeface="Calibri"/>
              </a:rPr>
              <a:t>→  Spark Structured Streaming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4754880" y="331012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Connect MCP server to live LAPD API feed for near-real-time dispatch inference.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4663440" y="3840480"/>
            <a:ext cx="4114800" cy="777240"/>
          </a:xfrm>
          <a:prstGeom prst="rect">
            <a:avLst/>
          </a:prstGeom>
          <a:solidFill>
            <a:srgbClr val="0A3347"/>
          </a:solidFill>
          <a:ln w="9525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4754880" y="38862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7B8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D7B8E"/>
                </a:solidFill>
                <a:latin typeface="Calibri"/>
                <a:ea typeface="Calibri"/>
                <a:cs typeface="Calibri"/>
                <a:sym typeface="Calibri"/>
              </a:rPr>
              <a:t>→  Fairness audit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754880" y="417880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Evaluate model predictions for disparate impact across victim descent groups.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00"/>
              <a:buFont typeface="Calibri"/>
              <a:buNone/>
            </a:pPr>
            <a:r>
              <a:rPr lang="en-US" sz="800" dirty="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7B8E">
              <a:alpha val="14901"/>
            </a:srgbClr>
          </a:solidFill>
          <a:ln w="12700" cap="flat" cmpd="sng">
            <a:solidFill>
              <a:srgbClr val="0D7B8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457200" y="457200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SafeCity Analytics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End-to-End Crime Prediction Pipeline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457200" y="1600200"/>
            <a:ext cx="1554480" cy="128016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457200" y="1664208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81.5%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457200" y="2240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Crime Category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 (RF)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2194560" y="1600200"/>
            <a:ext cx="1554480" cy="128016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2194560" y="1664208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0.886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2194560" y="2240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Weapon Risk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ROC-AUC (LR)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3931920" y="1600200"/>
            <a:ext cx="1554480" cy="1280160"/>
          </a:xfrm>
          <a:prstGeom prst="rect">
            <a:avLst/>
          </a:prstGeom>
          <a:solidFill>
            <a:srgbClr val="2E8B57"/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3931920" y="1664208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0.546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3931920" y="22402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Silhouette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457200" y="301752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Complete pipeline: raw CSV → EDA (Ph.1) → 6 ML models + MCP server (Ph.2) → Spark/Databricks (Ph.3)</a:t>
            </a:r>
            <a:b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6 ML models covering classification, clustering, and risk scoring</a:t>
            </a:r>
            <a:b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Random Forest deployed as MCP server callable from Claude Code</a:t>
            </a:r>
            <a:b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D6EEF3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D6EEF3"/>
                </a:solidFill>
                <a:latin typeface="Calibri"/>
                <a:ea typeface="Calibri"/>
                <a:cs typeface="Calibri"/>
                <a:sym typeface="Calibri"/>
              </a:rPr>
              <a:t>NIBRS cross-source validation confirms LA vehicle crime above national baseline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7B8E"/>
          </a:solidFill>
          <a:ln w="12700" cap="flat" cmpd="sng">
            <a:solidFill>
              <a:srgbClr val="0D7B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EAS 587 · Data-Intensive Computing · Spring 2026 · University at Buffalo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6251026" y="2148840"/>
            <a:ext cx="284725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Questions 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1760</Words>
  <Application>Microsoft Office PowerPoint</Application>
  <PresentationFormat>On-screen Show (16:9)</PresentationFormat>
  <Paragraphs>275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 Tikone</cp:lastModifiedBy>
  <cp:revision>3</cp:revision>
  <dcterms:modified xsi:type="dcterms:W3CDTF">2026-05-05T04:31:47Z</dcterms:modified>
</cp:coreProperties>
</file>